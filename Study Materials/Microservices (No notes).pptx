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cb80137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cb80137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cb801376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cb801376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cb801376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cb801376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cb801376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cb801376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cb801376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cb801376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cb801376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cb801376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cb801376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4cb801376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n.wikipedia.org/wiki/Software_development" TargetMode="External"/><Relationship Id="rId4" Type="http://schemas.openxmlformats.org/officeDocument/2006/relationships/hyperlink" Target="https://en.wikipedia.org/wiki/Service-oriented_architecture" TargetMode="External"/><Relationship Id="rId11" Type="http://schemas.openxmlformats.org/officeDocument/2006/relationships/hyperlink" Target="https://en.wikipedia.org/wiki/Software_deployment" TargetMode="External"/><Relationship Id="rId10" Type="http://schemas.openxmlformats.org/officeDocument/2006/relationships/hyperlink" Target="https://en.wikipedia.org/wiki/Software_development" TargetMode="External"/><Relationship Id="rId12" Type="http://schemas.openxmlformats.org/officeDocument/2006/relationships/hyperlink" Target="https://en.wikipedia.org/wiki/Microservices#cite_note-2" TargetMode="External"/><Relationship Id="rId9" Type="http://schemas.openxmlformats.org/officeDocument/2006/relationships/hyperlink" Target="https://en.wikipedia.org/wiki/Microservices#cite_note-Micro_Chen-1" TargetMode="External"/><Relationship Id="rId5" Type="http://schemas.openxmlformats.org/officeDocument/2006/relationships/hyperlink" Target="https://en.wikipedia.org/wiki/Application_(computing)" TargetMode="External"/><Relationship Id="rId6" Type="http://schemas.openxmlformats.org/officeDocument/2006/relationships/hyperlink" Target="https://en.wikipedia.org/wiki/Coupling_(computer_programming)" TargetMode="External"/><Relationship Id="rId7" Type="http://schemas.openxmlformats.org/officeDocument/2006/relationships/hyperlink" Target="https://en.wikipedia.org/wiki/Service_granularity_principle" TargetMode="External"/><Relationship Id="rId8" Type="http://schemas.openxmlformats.org/officeDocument/2006/relationships/hyperlink" Target="https://en.wikipedia.org/wiki/Modular_programm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Microservice?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22222"/>
                </a:solidFill>
              </a:rPr>
              <a:t>Microservices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are a </a:t>
            </a:r>
            <a:r>
              <a:rPr lang="en" sz="1400">
                <a:solidFill>
                  <a:srgbClr val="0B008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software development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technique—a variant of the </a:t>
            </a:r>
            <a:r>
              <a:rPr lang="en" sz="1400">
                <a:solidFill>
                  <a:srgbClr val="0B008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service-oriented architecture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(SOA) architectural style that structures an </a:t>
            </a:r>
            <a:r>
              <a:rPr lang="en" sz="1400">
                <a:solidFill>
                  <a:srgbClr val="0B0080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application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as a collection of </a:t>
            </a:r>
            <a:r>
              <a:rPr lang="en" sz="1400">
                <a:solidFill>
                  <a:srgbClr val="0B0080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loosely coupled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services...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In a microservices architecture, services are </a:t>
            </a:r>
            <a:r>
              <a:rPr lang="en" sz="1400">
                <a:solidFill>
                  <a:srgbClr val="0B0080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... 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The benefit of decomposing an application into different smaller services is that it improves </a:t>
            </a:r>
            <a:r>
              <a:rPr lang="en" sz="1400">
                <a:solidFill>
                  <a:srgbClr val="0B0080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modularity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. This makes the application easier to understand, develop, test, and become more resilient to architecture erosion.</a:t>
            </a:r>
            <a:r>
              <a:rPr baseline="30000" lang="en" sz="1400">
                <a:solidFill>
                  <a:srgbClr val="0B0080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 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It p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arallelizes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B0080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development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by enabling small autonomous teams to develop, </a:t>
            </a:r>
            <a:r>
              <a:rPr lang="en" sz="1400">
                <a:solidFill>
                  <a:srgbClr val="0B0080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deploy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and scale their respective services independently.</a:t>
            </a:r>
            <a:r>
              <a:rPr baseline="30000" lang="en" sz="1400">
                <a:solidFill>
                  <a:srgbClr val="0B0080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  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Microservice 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16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</a:rPr>
              <a:t>Web Service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Small and Responsible for one thing (Search, Password Reset, Email Verification)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Configured to work in the Cloud and is easily scalable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 vs Monolithic Application</a:t>
            </a:r>
            <a:endParaRPr/>
          </a:p>
        </p:txBody>
      </p:sp>
      <p:grpSp>
        <p:nvGrpSpPr>
          <p:cNvPr id="72" name="Google Shape;72;p16"/>
          <p:cNvGrpSpPr/>
          <p:nvPr/>
        </p:nvGrpSpPr>
        <p:grpSpPr>
          <a:xfrm>
            <a:off x="346500" y="1058600"/>
            <a:ext cx="2856600" cy="3857775"/>
            <a:chOff x="346500" y="1058600"/>
            <a:chExt cx="2856600" cy="3857775"/>
          </a:xfrm>
        </p:grpSpPr>
        <p:sp>
          <p:nvSpPr>
            <p:cNvPr id="73" name="Google Shape;73;p16"/>
            <p:cNvSpPr/>
            <p:nvPr/>
          </p:nvSpPr>
          <p:spPr>
            <a:xfrm>
              <a:off x="346500" y="1616975"/>
              <a:ext cx="2856600" cy="3299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500500" y="1874775"/>
              <a:ext cx="2533500" cy="469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Users Controller</a:t>
              </a:r>
              <a:endParaRPr/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500500" y="2466050"/>
              <a:ext cx="2533500" cy="469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Addresses</a:t>
              </a:r>
              <a:r>
                <a:rPr lang="en"/>
                <a:t> Controller</a:t>
              </a: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508050" y="3057325"/>
              <a:ext cx="2533500" cy="469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Products Controller</a:t>
              </a: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508050" y="3648600"/>
              <a:ext cx="2533500" cy="469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Search Controller</a:t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508050" y="4239875"/>
              <a:ext cx="2533500" cy="469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Email Verification Controller</a:t>
              </a:r>
              <a:endParaRPr/>
            </a:p>
          </p:txBody>
        </p:sp>
        <p:sp>
          <p:nvSpPr>
            <p:cNvPr id="79" name="Google Shape;79;p16"/>
            <p:cNvSpPr txBox="1"/>
            <p:nvPr/>
          </p:nvSpPr>
          <p:spPr>
            <a:xfrm>
              <a:off x="754575" y="1058600"/>
              <a:ext cx="1955700" cy="40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Monolithic Application</a:t>
              </a:r>
              <a:endParaRPr/>
            </a:p>
          </p:txBody>
        </p:sp>
      </p:grpSp>
      <p:grpSp>
        <p:nvGrpSpPr>
          <p:cNvPr id="80" name="Google Shape;80;p16"/>
          <p:cNvGrpSpPr/>
          <p:nvPr/>
        </p:nvGrpSpPr>
        <p:grpSpPr>
          <a:xfrm>
            <a:off x="6312000" y="1017725"/>
            <a:ext cx="2533500" cy="3724225"/>
            <a:chOff x="6312000" y="1017725"/>
            <a:chExt cx="2533500" cy="3724225"/>
          </a:xfrm>
        </p:grpSpPr>
        <p:sp>
          <p:nvSpPr>
            <p:cNvPr id="81" name="Google Shape;81;p16"/>
            <p:cNvSpPr txBox="1"/>
            <p:nvPr/>
          </p:nvSpPr>
          <p:spPr>
            <a:xfrm>
              <a:off x="6600900" y="1017725"/>
              <a:ext cx="1955700" cy="40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Microservices</a:t>
              </a:r>
              <a:endParaRPr/>
            </a:p>
          </p:txBody>
        </p:sp>
        <p:grpSp>
          <p:nvGrpSpPr>
            <p:cNvPr id="82" name="Google Shape;82;p16"/>
            <p:cNvGrpSpPr/>
            <p:nvPr/>
          </p:nvGrpSpPr>
          <p:grpSpPr>
            <a:xfrm>
              <a:off x="6312000" y="1569975"/>
              <a:ext cx="2533500" cy="3171975"/>
              <a:chOff x="6312000" y="1646175"/>
              <a:chExt cx="2533500" cy="3171975"/>
            </a:xfrm>
          </p:grpSpPr>
          <p:sp>
            <p:nvSpPr>
              <p:cNvPr id="83" name="Google Shape;83;p16"/>
              <p:cNvSpPr/>
              <p:nvPr/>
            </p:nvSpPr>
            <p:spPr>
              <a:xfrm>
                <a:off x="6312000" y="1646175"/>
                <a:ext cx="2533500" cy="4698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Users Web Service</a:t>
                </a:r>
                <a:endParaRPr/>
              </a:p>
            </p:txBody>
          </p:sp>
          <p:sp>
            <p:nvSpPr>
              <p:cNvPr id="84" name="Google Shape;84;p16"/>
              <p:cNvSpPr/>
              <p:nvPr/>
            </p:nvSpPr>
            <p:spPr>
              <a:xfrm>
                <a:off x="6312000" y="2358925"/>
                <a:ext cx="2533500" cy="4698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Addresses Web Service</a:t>
                </a:r>
                <a:endParaRPr/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6312000" y="3034900"/>
                <a:ext cx="2533500" cy="4698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Products Web Service</a:t>
                </a:r>
                <a:endParaRPr/>
              </a:p>
            </p:txBody>
          </p:sp>
          <p:sp>
            <p:nvSpPr>
              <p:cNvPr id="86" name="Google Shape;86;p16"/>
              <p:cNvSpPr/>
              <p:nvPr/>
            </p:nvSpPr>
            <p:spPr>
              <a:xfrm>
                <a:off x="6312000" y="3710875"/>
                <a:ext cx="2533500" cy="4698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Search Web Service </a:t>
                </a:r>
                <a:endParaRPr/>
              </a:p>
            </p:txBody>
          </p:sp>
          <p:sp>
            <p:nvSpPr>
              <p:cNvPr id="87" name="Google Shape;87;p16"/>
              <p:cNvSpPr/>
              <p:nvPr/>
            </p:nvSpPr>
            <p:spPr>
              <a:xfrm>
                <a:off x="6312000" y="4348350"/>
                <a:ext cx="2533500" cy="4698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Email Verification Web Service</a:t>
                </a:r>
                <a:endParaRPr/>
              </a:p>
            </p:txBody>
          </p:sp>
        </p:grpSp>
      </p:grpSp>
      <p:sp>
        <p:nvSpPr>
          <p:cNvPr id="88" name="Google Shape;88;p16"/>
          <p:cNvSpPr txBox="1"/>
          <p:nvPr/>
        </p:nvSpPr>
        <p:spPr>
          <a:xfrm>
            <a:off x="3677522" y="1593875"/>
            <a:ext cx="2212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Spring Boot, Spring MVC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677522" y="2308350"/>
            <a:ext cx="2212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Spring Boot, Spring MVC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77522" y="3022825"/>
            <a:ext cx="2212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Jersey 2, JAX-RS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722122" y="3675700"/>
            <a:ext cx="2212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PHP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3412025" y="59000"/>
            <a:ext cx="925200" cy="21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Mobile Device</a:t>
            </a:r>
            <a:endParaRPr sz="900"/>
          </a:p>
        </p:txBody>
      </p:sp>
      <p:sp>
        <p:nvSpPr>
          <p:cNvPr id="97" name="Google Shape;97;p17"/>
          <p:cNvSpPr/>
          <p:nvPr/>
        </p:nvSpPr>
        <p:spPr>
          <a:xfrm>
            <a:off x="4540525" y="59000"/>
            <a:ext cx="925200" cy="21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Web Browser</a:t>
            </a:r>
            <a:endParaRPr sz="900"/>
          </a:p>
        </p:txBody>
      </p:sp>
      <p:sp>
        <p:nvSpPr>
          <p:cNvPr id="98" name="Google Shape;98;p17"/>
          <p:cNvSpPr/>
          <p:nvPr/>
        </p:nvSpPr>
        <p:spPr>
          <a:xfrm>
            <a:off x="67900" y="619600"/>
            <a:ext cx="8997000" cy="4447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9" name="Google Shape;99;p17"/>
          <p:cNvSpPr txBox="1"/>
          <p:nvPr/>
        </p:nvSpPr>
        <p:spPr>
          <a:xfrm>
            <a:off x="67900" y="207550"/>
            <a:ext cx="6621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2172850" y="339300"/>
            <a:ext cx="4787100" cy="212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 Request</a:t>
            </a:r>
            <a:endParaRPr sz="900"/>
          </a:p>
        </p:txBody>
      </p:sp>
      <p:sp>
        <p:nvSpPr>
          <p:cNvPr id="101" name="Google Shape;101;p17"/>
          <p:cNvSpPr/>
          <p:nvPr/>
        </p:nvSpPr>
        <p:spPr>
          <a:xfrm>
            <a:off x="2172850" y="865525"/>
            <a:ext cx="4787100" cy="212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API Gateway</a:t>
            </a:r>
            <a:endParaRPr sz="900"/>
          </a:p>
        </p:txBody>
      </p:sp>
      <p:sp>
        <p:nvSpPr>
          <p:cNvPr id="102" name="Google Shape;102;p17"/>
          <p:cNvSpPr/>
          <p:nvPr/>
        </p:nvSpPr>
        <p:spPr>
          <a:xfrm>
            <a:off x="2178450" y="1086700"/>
            <a:ext cx="4787100" cy="212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Load Balancer</a:t>
            </a:r>
            <a:endParaRPr sz="900"/>
          </a:p>
        </p:txBody>
      </p:sp>
      <p:sp>
        <p:nvSpPr>
          <p:cNvPr id="103" name="Google Shape;103;p17"/>
          <p:cNvSpPr/>
          <p:nvPr/>
        </p:nvSpPr>
        <p:spPr>
          <a:xfrm>
            <a:off x="229175" y="2758500"/>
            <a:ext cx="1519200" cy="64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Users Microservice</a:t>
            </a:r>
            <a:endParaRPr sz="1200"/>
          </a:p>
        </p:txBody>
      </p:sp>
      <p:sp>
        <p:nvSpPr>
          <p:cNvPr id="104" name="Google Shape;104;p17"/>
          <p:cNvSpPr/>
          <p:nvPr/>
        </p:nvSpPr>
        <p:spPr>
          <a:xfrm>
            <a:off x="2020150" y="2758525"/>
            <a:ext cx="1519200" cy="64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Products Microservice</a:t>
            </a:r>
            <a:endParaRPr sz="1200"/>
          </a:p>
        </p:txBody>
      </p:sp>
      <p:sp>
        <p:nvSpPr>
          <p:cNvPr id="105" name="Google Shape;105;p17"/>
          <p:cNvSpPr/>
          <p:nvPr/>
        </p:nvSpPr>
        <p:spPr>
          <a:xfrm>
            <a:off x="3717513" y="2758500"/>
            <a:ext cx="1519200" cy="64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Products Microservice</a:t>
            </a:r>
            <a:endParaRPr sz="1200"/>
          </a:p>
        </p:txBody>
      </p:sp>
      <p:sp>
        <p:nvSpPr>
          <p:cNvPr id="106" name="Google Shape;106;p17"/>
          <p:cNvSpPr/>
          <p:nvPr/>
        </p:nvSpPr>
        <p:spPr>
          <a:xfrm>
            <a:off x="5542200" y="2758500"/>
            <a:ext cx="1519200" cy="64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Search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Microservice</a:t>
            </a:r>
            <a:endParaRPr sz="1200"/>
          </a:p>
        </p:txBody>
      </p:sp>
      <p:sp>
        <p:nvSpPr>
          <p:cNvPr id="107" name="Google Shape;107;p17"/>
          <p:cNvSpPr/>
          <p:nvPr/>
        </p:nvSpPr>
        <p:spPr>
          <a:xfrm>
            <a:off x="7426075" y="2758500"/>
            <a:ext cx="1519200" cy="64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Search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Microservice</a:t>
            </a:r>
            <a:endParaRPr sz="1200"/>
          </a:p>
        </p:txBody>
      </p:sp>
      <p:sp>
        <p:nvSpPr>
          <p:cNvPr id="108" name="Google Shape;108;p17"/>
          <p:cNvSpPr/>
          <p:nvPr/>
        </p:nvSpPr>
        <p:spPr>
          <a:xfrm>
            <a:off x="229175" y="1765050"/>
            <a:ext cx="1010100" cy="30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Config Server</a:t>
            </a:r>
            <a:endParaRPr sz="1000"/>
          </a:p>
        </p:txBody>
      </p:sp>
      <p:sp>
        <p:nvSpPr>
          <p:cNvPr id="109" name="Google Shape;109;p17"/>
          <p:cNvSpPr/>
          <p:nvPr/>
        </p:nvSpPr>
        <p:spPr>
          <a:xfrm>
            <a:off x="3812400" y="3836025"/>
            <a:ext cx="1519200" cy="64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Checkout Microservice</a:t>
            </a:r>
            <a:endParaRPr sz="1200"/>
          </a:p>
        </p:txBody>
      </p:sp>
      <p:sp>
        <p:nvSpPr>
          <p:cNvPr id="110" name="Google Shape;110;p17"/>
          <p:cNvSpPr/>
          <p:nvPr/>
        </p:nvSpPr>
        <p:spPr>
          <a:xfrm>
            <a:off x="1349175" y="1765063"/>
            <a:ext cx="1281900" cy="30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Discovery</a:t>
            </a:r>
            <a:endParaRPr sz="1000"/>
          </a:p>
        </p:txBody>
      </p:sp>
      <p:sp>
        <p:nvSpPr>
          <p:cNvPr id="111" name="Google Shape;111;p17"/>
          <p:cNvSpPr/>
          <p:nvPr/>
        </p:nvSpPr>
        <p:spPr>
          <a:xfrm>
            <a:off x="2038100" y="3836025"/>
            <a:ext cx="1519200" cy="64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Checkout Microservice</a:t>
            </a:r>
            <a:endParaRPr sz="1200"/>
          </a:p>
        </p:txBody>
      </p:sp>
      <p:sp>
        <p:nvSpPr>
          <p:cNvPr id="112" name="Google Shape;112;p17"/>
          <p:cNvSpPr/>
          <p:nvPr/>
        </p:nvSpPr>
        <p:spPr>
          <a:xfrm>
            <a:off x="7426075" y="3836025"/>
            <a:ext cx="1519200" cy="64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Notifications Microservice</a:t>
            </a:r>
            <a:endParaRPr sz="1200"/>
          </a:p>
        </p:txBody>
      </p:sp>
      <p:cxnSp>
        <p:nvCxnSpPr>
          <p:cNvPr id="113" name="Google Shape;113;p17"/>
          <p:cNvCxnSpPr>
            <a:stCxn id="100" idx="2"/>
            <a:endCxn id="101" idx="0"/>
          </p:cNvCxnSpPr>
          <p:nvPr/>
        </p:nvCxnSpPr>
        <p:spPr>
          <a:xfrm>
            <a:off x="4566400" y="551400"/>
            <a:ext cx="0" cy="3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7"/>
          <p:cNvCxnSpPr/>
          <p:nvPr/>
        </p:nvCxnSpPr>
        <p:spPr>
          <a:xfrm>
            <a:off x="4583325" y="1502300"/>
            <a:ext cx="8400" cy="102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7"/>
          <p:cNvCxnSpPr/>
          <p:nvPr/>
        </p:nvCxnSpPr>
        <p:spPr>
          <a:xfrm flipH="1">
            <a:off x="2953700" y="1519275"/>
            <a:ext cx="1366500" cy="106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7"/>
          <p:cNvCxnSpPr/>
          <p:nvPr/>
        </p:nvCxnSpPr>
        <p:spPr>
          <a:xfrm>
            <a:off x="4913975" y="1518813"/>
            <a:ext cx="1366500" cy="106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" name="Google Shape;117;p17"/>
          <p:cNvCxnSpPr/>
          <p:nvPr/>
        </p:nvCxnSpPr>
        <p:spPr>
          <a:xfrm rot="10800000">
            <a:off x="1027125" y="2198400"/>
            <a:ext cx="1493700" cy="41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7"/>
          <p:cNvCxnSpPr/>
          <p:nvPr/>
        </p:nvCxnSpPr>
        <p:spPr>
          <a:xfrm rot="10800000">
            <a:off x="729925" y="2215400"/>
            <a:ext cx="0" cy="3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7"/>
          <p:cNvCxnSpPr>
            <a:stCxn id="104" idx="2"/>
            <a:endCxn id="109" idx="0"/>
          </p:cNvCxnSpPr>
          <p:nvPr/>
        </p:nvCxnSpPr>
        <p:spPr>
          <a:xfrm>
            <a:off x="2779750" y="3403525"/>
            <a:ext cx="1792200" cy="4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7"/>
          <p:cNvCxnSpPr>
            <a:stCxn id="109" idx="3"/>
            <a:endCxn id="112" idx="1"/>
          </p:cNvCxnSpPr>
          <p:nvPr/>
        </p:nvCxnSpPr>
        <p:spPr>
          <a:xfrm>
            <a:off x="5331600" y="4158525"/>
            <a:ext cx="209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17"/>
          <p:cNvSpPr txBox="1"/>
          <p:nvPr/>
        </p:nvSpPr>
        <p:spPr>
          <a:xfrm>
            <a:off x="6094588" y="3783825"/>
            <a:ext cx="568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</a:t>
            </a:r>
            <a:endParaRPr sz="1000"/>
          </a:p>
        </p:txBody>
      </p:sp>
      <p:sp>
        <p:nvSpPr>
          <p:cNvPr id="122" name="Google Shape;122;p17"/>
          <p:cNvSpPr txBox="1"/>
          <p:nvPr/>
        </p:nvSpPr>
        <p:spPr>
          <a:xfrm>
            <a:off x="5644363" y="1765063"/>
            <a:ext cx="568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</a:t>
            </a:r>
            <a:endParaRPr sz="1000"/>
          </a:p>
        </p:txBody>
      </p:sp>
      <p:sp>
        <p:nvSpPr>
          <p:cNvPr id="123" name="Google Shape;123;p17"/>
          <p:cNvSpPr txBox="1"/>
          <p:nvPr/>
        </p:nvSpPr>
        <p:spPr>
          <a:xfrm>
            <a:off x="3997888" y="3403488"/>
            <a:ext cx="568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</a:t>
            </a:r>
            <a:endParaRPr sz="1000"/>
          </a:p>
        </p:txBody>
      </p:sp>
      <p:sp>
        <p:nvSpPr>
          <p:cNvPr id="124" name="Google Shape;124;p17"/>
          <p:cNvSpPr txBox="1"/>
          <p:nvPr/>
        </p:nvSpPr>
        <p:spPr>
          <a:xfrm>
            <a:off x="2122063" y="2198388"/>
            <a:ext cx="568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Microservice 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311700" y="1152475"/>
            <a:ext cx="5698500" cy="16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RESTful Web Service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Small and Responsible for one thing (Search, Password Reset, Email Verification)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Configured to work in the cloud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060600" y="778225"/>
            <a:ext cx="3009900" cy="9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6191250" y="874850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 Controller #1</a:t>
            </a:r>
            <a:endParaRPr sz="1000"/>
          </a:p>
        </p:txBody>
      </p:sp>
      <p:sp>
        <p:nvSpPr>
          <p:cNvPr id="133" name="Google Shape;133;p18"/>
          <p:cNvSpPr/>
          <p:nvPr/>
        </p:nvSpPr>
        <p:spPr>
          <a:xfrm>
            <a:off x="6191238" y="1150963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#1</a:t>
            </a:r>
            <a:endParaRPr sz="1000"/>
          </a:p>
        </p:txBody>
      </p:sp>
      <p:sp>
        <p:nvSpPr>
          <p:cNvPr id="134" name="Google Shape;134;p18"/>
          <p:cNvSpPr/>
          <p:nvPr/>
        </p:nvSpPr>
        <p:spPr>
          <a:xfrm>
            <a:off x="6191238" y="1427100"/>
            <a:ext cx="2748600" cy="197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Repository #1</a:t>
            </a:r>
            <a:endParaRPr sz="1000"/>
          </a:p>
        </p:txBody>
      </p:sp>
      <p:sp>
        <p:nvSpPr>
          <p:cNvPr id="135" name="Google Shape;135;p18"/>
          <p:cNvSpPr txBox="1"/>
          <p:nvPr/>
        </p:nvSpPr>
        <p:spPr>
          <a:xfrm>
            <a:off x="6060600" y="390525"/>
            <a:ext cx="902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</a:t>
            </a:r>
            <a:endParaRPr/>
          </a:p>
        </p:txBody>
      </p:sp>
      <p:grpSp>
        <p:nvGrpSpPr>
          <p:cNvPr id="136" name="Google Shape;136;p18"/>
          <p:cNvGrpSpPr/>
          <p:nvPr/>
        </p:nvGrpSpPr>
        <p:grpSpPr>
          <a:xfrm>
            <a:off x="6060600" y="3476225"/>
            <a:ext cx="3009900" cy="1333475"/>
            <a:chOff x="6060600" y="3476225"/>
            <a:chExt cx="3009900" cy="1333475"/>
          </a:xfrm>
        </p:grpSpPr>
        <p:sp>
          <p:nvSpPr>
            <p:cNvPr id="137" name="Google Shape;137;p18"/>
            <p:cNvSpPr/>
            <p:nvPr/>
          </p:nvSpPr>
          <p:spPr>
            <a:xfrm>
              <a:off x="6060600" y="3866800"/>
              <a:ext cx="3009900" cy="942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6191250" y="3963425"/>
              <a:ext cx="2748600" cy="1974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Rest Controller #1</a:t>
              </a:r>
              <a:endParaRPr sz="1000"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6191238" y="4239538"/>
              <a:ext cx="2748600" cy="1974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Service #1</a:t>
              </a:r>
              <a:endParaRPr sz="1000"/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6060600" y="3476225"/>
              <a:ext cx="110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Search</a:t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6191238" y="4515675"/>
              <a:ext cx="2748600" cy="1974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Repository #1</a:t>
              </a:r>
              <a:endParaRPr sz="1000"/>
            </a:p>
          </p:txBody>
        </p:sp>
      </p:grpSp>
      <p:grpSp>
        <p:nvGrpSpPr>
          <p:cNvPr id="142" name="Google Shape;142;p18"/>
          <p:cNvGrpSpPr/>
          <p:nvPr/>
        </p:nvGrpSpPr>
        <p:grpSpPr>
          <a:xfrm>
            <a:off x="6060600" y="1879763"/>
            <a:ext cx="3009900" cy="1338238"/>
            <a:chOff x="6060600" y="1879763"/>
            <a:chExt cx="3009900" cy="1338238"/>
          </a:xfrm>
        </p:grpSpPr>
        <p:sp>
          <p:nvSpPr>
            <p:cNvPr id="143" name="Google Shape;143;p18"/>
            <p:cNvSpPr/>
            <p:nvPr/>
          </p:nvSpPr>
          <p:spPr>
            <a:xfrm>
              <a:off x="6060600" y="2275100"/>
              <a:ext cx="3009900" cy="942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6191250" y="2371725"/>
              <a:ext cx="2748600" cy="1974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Rest Controller #1</a:t>
              </a:r>
              <a:endParaRPr sz="1000"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6191238" y="2647838"/>
              <a:ext cx="2748600" cy="1974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Service #1</a:t>
              </a:r>
              <a:endParaRPr sz="1000"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6060600" y="1879763"/>
              <a:ext cx="110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Addresses</a:t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6191238" y="2923975"/>
              <a:ext cx="2748600" cy="1974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Repository #1</a:t>
              </a:r>
              <a:endParaRPr sz="10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Monolithic Application</a:t>
            </a:r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311700" y="1152475"/>
            <a:ext cx="85206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Advantages: </a:t>
            </a:r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419100" y="2891475"/>
            <a:ext cx="8520600" cy="5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Disadvantages</a:t>
            </a:r>
            <a:r>
              <a:rPr lang="en"/>
              <a:t>: 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419100" y="1819275"/>
            <a:ext cx="44022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easier to to begin with,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Faster initial development time,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Easier to deploy 1 app, than 20 independent apps. 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19100" y="3571875"/>
            <a:ext cx="79914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Harder to maintain, harder to release changes,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Difficult for new developers to understand,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done with one technology.</a:t>
            </a:r>
            <a:r>
              <a:rPr lang="en"/>
              <a:t>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24575" y="142800"/>
            <a:ext cx="2886000" cy="485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6191250" y="247650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 Controller #1</a:t>
            </a:r>
            <a:endParaRPr sz="1000"/>
          </a:p>
        </p:txBody>
      </p:sp>
      <p:sp>
        <p:nvSpPr>
          <p:cNvPr id="159" name="Google Shape;159;p19"/>
          <p:cNvSpPr/>
          <p:nvPr/>
        </p:nvSpPr>
        <p:spPr>
          <a:xfrm>
            <a:off x="6193275" y="533400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 Controller #2</a:t>
            </a:r>
            <a:endParaRPr sz="1000"/>
          </a:p>
        </p:txBody>
      </p:sp>
      <p:sp>
        <p:nvSpPr>
          <p:cNvPr id="160" name="Google Shape;160;p19"/>
          <p:cNvSpPr/>
          <p:nvPr/>
        </p:nvSpPr>
        <p:spPr>
          <a:xfrm>
            <a:off x="6193275" y="1713013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161" name="Google Shape;161;p19"/>
          <p:cNvSpPr/>
          <p:nvPr/>
        </p:nvSpPr>
        <p:spPr>
          <a:xfrm>
            <a:off x="6193275" y="1998763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 Controller #50</a:t>
            </a:r>
            <a:endParaRPr sz="1000"/>
          </a:p>
        </p:txBody>
      </p:sp>
      <p:sp>
        <p:nvSpPr>
          <p:cNvPr id="162" name="Google Shape;162;p19"/>
          <p:cNvSpPr/>
          <p:nvPr/>
        </p:nvSpPr>
        <p:spPr>
          <a:xfrm>
            <a:off x="6190238" y="2429663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#1</a:t>
            </a:r>
            <a:endParaRPr sz="1000"/>
          </a:p>
        </p:txBody>
      </p:sp>
      <p:sp>
        <p:nvSpPr>
          <p:cNvPr id="163" name="Google Shape;163;p19"/>
          <p:cNvSpPr/>
          <p:nvPr/>
        </p:nvSpPr>
        <p:spPr>
          <a:xfrm>
            <a:off x="6192263" y="2681338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#2</a:t>
            </a:r>
            <a:endParaRPr sz="1000"/>
          </a:p>
        </p:txBody>
      </p:sp>
      <p:sp>
        <p:nvSpPr>
          <p:cNvPr id="164" name="Google Shape;164;p19"/>
          <p:cNvSpPr/>
          <p:nvPr/>
        </p:nvSpPr>
        <p:spPr>
          <a:xfrm>
            <a:off x="6190238" y="3765038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165" name="Google Shape;165;p19"/>
          <p:cNvSpPr/>
          <p:nvPr/>
        </p:nvSpPr>
        <p:spPr>
          <a:xfrm>
            <a:off x="6193275" y="4035963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#50</a:t>
            </a:r>
            <a:endParaRPr sz="1000"/>
          </a:p>
        </p:txBody>
      </p:sp>
      <p:sp>
        <p:nvSpPr>
          <p:cNvPr id="166" name="Google Shape;166;p19"/>
          <p:cNvSpPr/>
          <p:nvPr/>
        </p:nvSpPr>
        <p:spPr>
          <a:xfrm>
            <a:off x="6193275" y="842938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 Controller #3</a:t>
            </a:r>
            <a:endParaRPr sz="1000"/>
          </a:p>
        </p:txBody>
      </p:sp>
      <p:sp>
        <p:nvSpPr>
          <p:cNvPr id="167" name="Google Shape;167;p19"/>
          <p:cNvSpPr/>
          <p:nvPr/>
        </p:nvSpPr>
        <p:spPr>
          <a:xfrm>
            <a:off x="6193275" y="1152488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 Controller #4</a:t>
            </a:r>
            <a:endParaRPr sz="1000"/>
          </a:p>
        </p:txBody>
      </p:sp>
      <p:sp>
        <p:nvSpPr>
          <p:cNvPr id="168" name="Google Shape;168;p19"/>
          <p:cNvSpPr/>
          <p:nvPr/>
        </p:nvSpPr>
        <p:spPr>
          <a:xfrm>
            <a:off x="6193275" y="1432750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 Controller #5</a:t>
            </a:r>
            <a:endParaRPr sz="1000"/>
          </a:p>
        </p:txBody>
      </p:sp>
      <p:sp>
        <p:nvSpPr>
          <p:cNvPr id="169" name="Google Shape;169;p19"/>
          <p:cNvSpPr/>
          <p:nvPr/>
        </p:nvSpPr>
        <p:spPr>
          <a:xfrm>
            <a:off x="6192263" y="2948775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#3</a:t>
            </a:r>
            <a:endParaRPr sz="1000"/>
          </a:p>
        </p:txBody>
      </p:sp>
      <p:sp>
        <p:nvSpPr>
          <p:cNvPr id="170" name="Google Shape;170;p19"/>
          <p:cNvSpPr/>
          <p:nvPr/>
        </p:nvSpPr>
        <p:spPr>
          <a:xfrm>
            <a:off x="6192263" y="3223188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#4</a:t>
            </a:r>
            <a:endParaRPr sz="1000"/>
          </a:p>
        </p:txBody>
      </p:sp>
      <p:sp>
        <p:nvSpPr>
          <p:cNvPr id="171" name="Google Shape;171;p19"/>
          <p:cNvSpPr/>
          <p:nvPr/>
        </p:nvSpPr>
        <p:spPr>
          <a:xfrm>
            <a:off x="6192263" y="3494113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#5</a:t>
            </a:r>
            <a:endParaRPr sz="1000"/>
          </a:p>
        </p:txBody>
      </p:sp>
      <p:sp>
        <p:nvSpPr>
          <p:cNvPr id="172" name="Google Shape;172;p19"/>
          <p:cNvSpPr/>
          <p:nvPr/>
        </p:nvSpPr>
        <p:spPr>
          <a:xfrm>
            <a:off x="6191238" y="4481700"/>
            <a:ext cx="2748600" cy="197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Repository</a:t>
            </a:r>
            <a:r>
              <a:rPr lang="en" sz="1000"/>
              <a:t> #1</a:t>
            </a:r>
            <a:endParaRPr sz="1000"/>
          </a:p>
        </p:txBody>
      </p:sp>
      <p:sp>
        <p:nvSpPr>
          <p:cNvPr id="173" name="Google Shape;173;p19"/>
          <p:cNvSpPr/>
          <p:nvPr/>
        </p:nvSpPr>
        <p:spPr>
          <a:xfrm>
            <a:off x="6191238" y="4741113"/>
            <a:ext cx="2748600" cy="197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Repository</a:t>
            </a:r>
            <a:r>
              <a:rPr lang="en" sz="1000"/>
              <a:t> #2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311700" y="445025"/>
            <a:ext cx="519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311700" y="1152475"/>
            <a:ext cx="54639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Advantages: 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311700" y="2900975"/>
            <a:ext cx="45591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Disadvantages: 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060600" y="778225"/>
            <a:ext cx="3009900" cy="9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6191250" y="874850"/>
            <a:ext cx="2748600" cy="197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 Controller #1</a:t>
            </a:r>
            <a:endParaRPr sz="1000"/>
          </a:p>
        </p:txBody>
      </p:sp>
      <p:sp>
        <p:nvSpPr>
          <p:cNvPr id="183" name="Google Shape;183;p20"/>
          <p:cNvSpPr/>
          <p:nvPr/>
        </p:nvSpPr>
        <p:spPr>
          <a:xfrm>
            <a:off x="6191238" y="1150963"/>
            <a:ext cx="2748600" cy="197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Service #1</a:t>
            </a:r>
            <a:endParaRPr sz="1000"/>
          </a:p>
        </p:txBody>
      </p:sp>
      <p:sp>
        <p:nvSpPr>
          <p:cNvPr id="184" name="Google Shape;184;p20"/>
          <p:cNvSpPr/>
          <p:nvPr/>
        </p:nvSpPr>
        <p:spPr>
          <a:xfrm>
            <a:off x="6191238" y="1427100"/>
            <a:ext cx="2748600" cy="197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Repository #1</a:t>
            </a:r>
            <a:endParaRPr sz="1000"/>
          </a:p>
        </p:txBody>
      </p:sp>
      <p:sp>
        <p:nvSpPr>
          <p:cNvPr id="185" name="Google Shape;185;p20"/>
          <p:cNvSpPr txBox="1"/>
          <p:nvPr/>
        </p:nvSpPr>
        <p:spPr>
          <a:xfrm>
            <a:off x="6060600" y="390525"/>
            <a:ext cx="902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</a:t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6060600" y="3476225"/>
            <a:ext cx="3009900" cy="1333475"/>
            <a:chOff x="6060600" y="3476225"/>
            <a:chExt cx="3009900" cy="1333475"/>
          </a:xfrm>
        </p:grpSpPr>
        <p:sp>
          <p:nvSpPr>
            <p:cNvPr id="187" name="Google Shape;187;p20"/>
            <p:cNvSpPr/>
            <p:nvPr/>
          </p:nvSpPr>
          <p:spPr>
            <a:xfrm>
              <a:off x="6060600" y="3866800"/>
              <a:ext cx="3009900" cy="942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6191250" y="3963425"/>
              <a:ext cx="2748600" cy="1974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Rest Controller #1</a:t>
              </a:r>
              <a:endParaRPr sz="1000"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6191238" y="4239538"/>
              <a:ext cx="2748600" cy="1974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Service #1</a:t>
              </a:r>
              <a:endParaRPr sz="1000"/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6060600" y="3476225"/>
              <a:ext cx="110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Search</a:t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6191238" y="4515675"/>
              <a:ext cx="2748600" cy="1974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Repository #1</a:t>
              </a:r>
              <a:endParaRPr sz="1000"/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6060600" y="1879763"/>
            <a:ext cx="3009900" cy="1338238"/>
            <a:chOff x="6060600" y="1879763"/>
            <a:chExt cx="3009900" cy="1338238"/>
          </a:xfrm>
        </p:grpSpPr>
        <p:sp>
          <p:nvSpPr>
            <p:cNvPr id="193" name="Google Shape;193;p20"/>
            <p:cNvSpPr/>
            <p:nvPr/>
          </p:nvSpPr>
          <p:spPr>
            <a:xfrm>
              <a:off x="6060600" y="2275100"/>
              <a:ext cx="3009900" cy="942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6191250" y="2371725"/>
              <a:ext cx="2748600" cy="1974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Rest Controller #1</a:t>
              </a:r>
              <a:endParaRPr sz="1000"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6191238" y="2647838"/>
              <a:ext cx="2748600" cy="1974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Service #1</a:t>
              </a:r>
              <a:endParaRPr sz="1000"/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6060600" y="1879763"/>
              <a:ext cx="110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Addresses</a:t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6191238" y="2923975"/>
              <a:ext cx="2748600" cy="1974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Repository #1</a:t>
              </a:r>
              <a:endParaRPr sz="1000"/>
            </a:p>
          </p:txBody>
        </p:sp>
      </p:grpSp>
      <p:sp>
        <p:nvSpPr>
          <p:cNvPr id="198" name="Google Shape;198;p20"/>
          <p:cNvSpPr txBox="1"/>
          <p:nvPr/>
        </p:nvSpPr>
        <p:spPr>
          <a:xfrm>
            <a:off x="438150" y="1724025"/>
            <a:ext cx="50817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Small and focused on one domain or functionality,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Independent,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Easier to refactor, rework and use new technology. 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66750" y="3695700"/>
            <a:ext cx="50817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Slower to begin with,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Slower to develop entire application if doing it alone,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More complex architecture,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